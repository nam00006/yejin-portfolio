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52" y="1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4494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28000"/>
          </a:blip>
          <a:stretch>
            <a:fillRect/>
          </a:stretch>
        </p:blipFill>
        <p:spPr>
          <a:xfrm>
            <a:off x="6492240" y="1417320"/>
            <a:ext cx="1828800" cy="1828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23444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EVOLUTION OF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640080" y="164592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Artificial Intelligence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640080" y="265176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Visual Timeline: From Early Computing to Generative AI (1940s – Present)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40080" y="397764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7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Yejin Nam · AIML-500 Machine Learning Fundamentals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AA7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1.3 Discussion  ·  Indiana Wesleyan University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Eras of AI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in AI has moved in cycles of breakthrough, disappointment, and revival — driven as much by hardware as by ideas.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2788920"/>
            <a:ext cx="7680960" cy="0"/>
          </a:xfrm>
          <a:prstGeom prst="line">
            <a:avLst/>
          </a:prstGeom>
          <a:noFill/>
          <a:ln w="444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02336" y="2459736"/>
            <a:ext cx="658368" cy="658368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2633472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-137160" y="18288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D7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1940s–50s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-137160" y="329184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322576" y="2459736"/>
            <a:ext cx="658368" cy="658368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6312" y="2633472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783080" y="18288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D7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1950s–70s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783080" y="329184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&amp;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Symbolic AI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242816" y="2459736"/>
            <a:ext cx="658368" cy="658368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6552" y="2633472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703320" y="18288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D7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1970s–90s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3703320" y="329184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Winter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Cycles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163056" y="2459736"/>
            <a:ext cx="658368" cy="658368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6792" y="2633472"/>
            <a:ext cx="310896" cy="31089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623560" y="18288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D7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1990s–2012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5623560" y="329184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Revival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8083296" y="2459736"/>
            <a:ext cx="658368" cy="658368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57032" y="2633472"/>
            <a:ext cx="310896" cy="31089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543800" y="18288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D7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2012–Now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7543800" y="329184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&amp;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731520" y="4069080"/>
            <a:ext cx="7680960" cy="685800"/>
          </a:xfrm>
          <a:prstGeom prst="roundRect">
            <a:avLst>
              <a:gd name="adj" fmla="val 10667"/>
            </a:avLst>
          </a:prstGeom>
          <a:solidFill>
            <a:srgbClr val="F0F5FE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19"/>
          <p:cNvSpPr/>
          <p:nvPr/>
        </p:nvSpPr>
        <p:spPr>
          <a:xfrm>
            <a:off x="960120" y="406908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compute doubled every </a:t>
            </a: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 months</a:t>
            </a:r>
            <a:r>
              <a:rPr lang="en-US" sz="1400" dirty="0">
                <a:solidFill>
                  <a:srgbClr val="2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AI's first 60 years — since 2010, it doubles every </a:t>
            </a: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 months</a:t>
            </a:r>
            <a:r>
              <a:rPr lang="en-US" sz="1400" dirty="0">
                <a:solidFill>
                  <a:srgbClr val="5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(Roser, 2022).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3D7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 1  ·  1940s – 1950s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52144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questions — and the first machines — that started it all.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417320" y="1874520"/>
            <a:ext cx="0" cy="2743200"/>
          </a:xfrm>
          <a:prstGeom prst="line">
            <a:avLst/>
          </a:prstGeom>
          <a:noFill/>
          <a:ln w="381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79576" y="1972056"/>
            <a:ext cx="475488" cy="475488"/>
          </a:xfrm>
          <a:prstGeom prst="ellipse">
            <a:avLst/>
          </a:prstGeom>
          <a:solidFill>
            <a:srgbClr val="3D7DD8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37160" y="198120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1950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874520" y="1746504"/>
            <a:ext cx="6720840" cy="926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Turing Test</a:t>
            </a:r>
            <a:endParaRPr lang="en-US" sz="1550" dirty="0"/>
          </a:p>
          <a:p>
            <a:pPr marL="0" indent="0">
              <a:buNone/>
            </a:pPr>
            <a:r>
              <a:rPr lang="en-US" sz="1250" dirty="0">
                <a:solidFill>
                  <a:srgbClr val="2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Alan Turing publishes “Computing Machinery and Intelligence,” proposing a test to determine whether a machine can exhibit human-like intelligence. His wartime code-breaking work had already laid the conceptual foundation for modern computing.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1179576" y="3008376"/>
            <a:ext cx="475488" cy="475488"/>
          </a:xfrm>
          <a:prstGeom prst="ellipse">
            <a:avLst/>
          </a:prstGeom>
          <a:solidFill>
            <a:srgbClr val="3D7DD8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37160" y="301752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1950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874520" y="2782824"/>
            <a:ext cx="6720840" cy="926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Theseus, the Maze-Solving Mouse</a:t>
            </a:r>
            <a:endParaRPr lang="en-US" sz="1550" dirty="0"/>
          </a:p>
          <a:p>
            <a:pPr marL="0" indent="0">
              <a:buNone/>
            </a:pPr>
            <a:r>
              <a:rPr lang="en-US" sz="1250" dirty="0">
                <a:solidFill>
                  <a:srgbClr val="2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Shannon builds Theseus, a remote-controlled robotic mouse that could navigate a maze and remember its path — one of the earliest demonstrations of machine learning.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1179576" y="4044696"/>
            <a:ext cx="475488" cy="475488"/>
          </a:xfrm>
          <a:prstGeom prst="ellipse">
            <a:avLst/>
          </a:prstGeom>
          <a:solidFill>
            <a:srgbClr val="3D7DD8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37160" y="405384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1956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874520" y="3819144"/>
            <a:ext cx="6720840" cy="926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Dartmouth Conference</a:t>
            </a:r>
            <a:endParaRPr lang="en-US" sz="1550" dirty="0"/>
          </a:p>
          <a:p>
            <a:pPr marL="0" indent="0">
              <a:buNone/>
            </a:pPr>
            <a:r>
              <a:rPr lang="en-US" sz="1250" dirty="0">
                <a:solidFill>
                  <a:srgbClr val="2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McCarthy coins the term “Artificial Intelligence” at a summer workshop at Dartmouth College, officially establishing AI as an academic field of study.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3D7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 2  ·  1950s – 1970s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Foundations Behind Early AI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52144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semiconductor revolution quietly builds the engine AI will need.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417320" y="1874520"/>
            <a:ext cx="0" cy="2743200"/>
          </a:xfrm>
          <a:prstGeom prst="line">
            <a:avLst/>
          </a:prstGeom>
          <a:noFill/>
          <a:ln w="381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79576" y="1972056"/>
            <a:ext cx="475488" cy="475488"/>
          </a:xfrm>
          <a:prstGeom prst="ellipse">
            <a:avLst/>
          </a:prstGeom>
          <a:solidFill>
            <a:srgbClr val="3D7DD8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37160" y="198120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1947–58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874520" y="1746504"/>
            <a:ext cx="6720840" cy="926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Transistor and the Integrated Circuit</a:t>
            </a:r>
            <a:endParaRPr lang="en-US" sz="1550" dirty="0"/>
          </a:p>
          <a:p>
            <a:pPr marL="0" indent="0">
              <a:buNone/>
            </a:pPr>
            <a:r>
              <a:rPr lang="en-US" sz="1250" dirty="0">
                <a:solidFill>
                  <a:srgbClr val="2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William Shockley's transistor and Robert Noyce's integrated circuit spark the semiconductor revolution, creating the hardware foundation that would eventually make AI possible.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1179576" y="3008376"/>
            <a:ext cx="475488" cy="475488"/>
          </a:xfrm>
          <a:prstGeom prst="ellipse">
            <a:avLst/>
          </a:prstGeom>
          <a:solidFill>
            <a:srgbClr val="3D7DD8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37160" y="301752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1960s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874520" y="2782824"/>
            <a:ext cx="6720840" cy="926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Symbolic AI and Rule-Based Reasoning</a:t>
            </a:r>
            <a:endParaRPr lang="en-US" sz="1550" dirty="0"/>
          </a:p>
          <a:p>
            <a:pPr marL="0" indent="0">
              <a:buNone/>
            </a:pPr>
            <a:r>
              <a:rPr lang="en-US" sz="1250" dirty="0">
                <a:solidFill>
                  <a:srgbClr val="2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AI research focused on symbolic AI, where computers used logic, rules, and human-coded knowledge to solve problems. This approach shaped the first major era of AI, but it struggled with complex real-world situations.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1179576" y="4044696"/>
            <a:ext cx="475488" cy="475488"/>
          </a:xfrm>
          <a:prstGeom prst="ellipse">
            <a:avLst/>
          </a:prstGeom>
          <a:solidFill>
            <a:srgbClr val="3D7DD8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37160" y="405384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1965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874520" y="3819144"/>
            <a:ext cx="6720840" cy="926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Moore's Law</a:t>
            </a:r>
            <a:endParaRPr lang="en-US" sz="1550" dirty="0"/>
          </a:p>
          <a:p>
            <a:pPr marL="0" indent="0">
              <a:buNone/>
            </a:pPr>
            <a:r>
              <a:rPr lang="en-US" sz="1250" dirty="0">
                <a:solidFill>
                  <a:srgbClr val="2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Gordon Moore predicts that computing power will double roughly every two years. This exponential growth in hardware quietly powered AI progress for the next six decades.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B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3D7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 3  ·  1970s – 1990s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AI Winter Cycles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52144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AA7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 outruns hardware — twice — and funding freezes over.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417320" y="1874520"/>
            <a:ext cx="0" cy="2743200"/>
          </a:xfrm>
          <a:prstGeom prst="line">
            <a:avLst/>
          </a:prstGeom>
          <a:noFill/>
          <a:ln w="38100">
            <a:solidFill>
              <a:srgbClr val="3940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79576" y="1972056"/>
            <a:ext cx="475488" cy="475488"/>
          </a:xfrm>
          <a:prstGeom prst="ellipse">
            <a:avLst/>
          </a:prstGeom>
          <a:solidFill>
            <a:srgbClr val="3D7DD8"/>
          </a:solidFill>
          <a:ln w="25400">
            <a:solidFill>
              <a:srgbClr val="141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37160" y="198120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1974–80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874520" y="1746504"/>
            <a:ext cx="6720840" cy="926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AI Winter</a:t>
            </a:r>
            <a:endParaRPr lang="en-US" sz="1550" dirty="0"/>
          </a:p>
          <a:p>
            <a:pPr marL="0" indent="0">
              <a:buNone/>
            </a:pPr>
            <a:r>
              <a:rPr lang="en-US" sz="1250" dirty="0">
                <a:solidFill>
                  <a:srgbClr val="E6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AI systems fail to deliver on inflated promises, and government funding collapses. Progress stalls as computing power proves insufficient for researchers' ambitions.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1179576" y="3008376"/>
            <a:ext cx="475488" cy="475488"/>
          </a:xfrm>
          <a:prstGeom prst="ellipse">
            <a:avLst/>
          </a:prstGeom>
          <a:solidFill>
            <a:srgbClr val="3D7DD8"/>
          </a:solidFill>
          <a:ln w="25400">
            <a:solidFill>
              <a:srgbClr val="141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37160" y="301752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1980s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874520" y="2782824"/>
            <a:ext cx="6720840" cy="926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Expert Systems Boom</a:t>
            </a:r>
            <a:endParaRPr lang="en-US" sz="1550" dirty="0"/>
          </a:p>
          <a:p>
            <a:pPr marL="0" indent="0">
              <a:buNone/>
            </a:pPr>
            <a:r>
              <a:rPr lang="en-US" sz="1250" dirty="0">
                <a:solidFill>
                  <a:srgbClr val="E6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“expert systems” bring AI into the business world by encoding human knowledge into if-then logic, sparking a wave of commercial investment.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1179576" y="4044696"/>
            <a:ext cx="475488" cy="475488"/>
          </a:xfrm>
          <a:prstGeom prst="ellipse">
            <a:avLst/>
          </a:prstGeom>
          <a:solidFill>
            <a:srgbClr val="3D7DD8"/>
          </a:solidFill>
          <a:ln w="25400">
            <a:solidFill>
              <a:srgbClr val="141B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37160" y="405384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1987–93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874520" y="3819144"/>
            <a:ext cx="6720840" cy="926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Second AI Winter</a:t>
            </a:r>
            <a:endParaRPr lang="en-US" sz="1550" dirty="0"/>
          </a:p>
          <a:p>
            <a:pPr marL="0" indent="0">
              <a:buNone/>
            </a:pPr>
            <a:r>
              <a:rPr lang="en-US" sz="1250" dirty="0">
                <a:solidFill>
                  <a:srgbClr val="E6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systems prove expensive to maintain and unable to adapt, and the specialized hardware market collapses. Funding and public interest decline once again.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3D7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 4  ·  1990s – 2012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Machine Learning Revival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52144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Data, GPUs, and neural networks bring AI back to life.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417320" y="1874520"/>
            <a:ext cx="0" cy="2743200"/>
          </a:xfrm>
          <a:prstGeom prst="line">
            <a:avLst/>
          </a:prstGeom>
          <a:noFill/>
          <a:ln w="381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79576" y="2231136"/>
            <a:ext cx="475488" cy="475488"/>
          </a:xfrm>
          <a:prstGeom prst="ellipse">
            <a:avLst/>
          </a:prstGeom>
          <a:solidFill>
            <a:srgbClr val="3D7DD8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37160" y="224028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1997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874520" y="1746504"/>
            <a:ext cx="672084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Blue Defeats Kasparov</a:t>
            </a:r>
            <a:endParaRPr lang="en-US" sz="1550" dirty="0"/>
          </a:p>
          <a:p>
            <a:pPr marL="0" indent="0">
              <a:buNone/>
            </a:pPr>
            <a:r>
              <a:rPr lang="en-US" sz="1250" dirty="0">
                <a:solidFill>
                  <a:srgbClr val="2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IBM's Deep Blue becomes the first computer to defeat a reigning world chess champion, Garry Kasparov, proving that machines could outperform humans in complex strategic tasks.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1179576" y="3785616"/>
            <a:ext cx="475488" cy="475488"/>
          </a:xfrm>
          <a:prstGeom prst="ellipse">
            <a:avLst/>
          </a:prstGeom>
          <a:solidFill>
            <a:srgbClr val="3D7DD8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37160" y="379476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874520" y="3300984"/>
            <a:ext cx="672084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AlexNet Breakthrough</a:t>
            </a:r>
            <a:endParaRPr lang="en-US" sz="1550" dirty="0"/>
          </a:p>
          <a:p>
            <a:pPr marL="0" indent="0">
              <a:buNone/>
            </a:pPr>
            <a:r>
              <a:rPr lang="en-US" sz="1250" dirty="0">
                <a:solidFill>
                  <a:srgbClr val="2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Geoffrey Hinton, Alex Krizhevsky, and Ilya Sutskever use Nvidia GPUs to train a deep neural network that shatters image-recognition records. Hardware finally catches up with decades-old software theory, launching the deep learning era.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3D7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 5  ·  2012 – PRESENT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Learning &amp; Generative AI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52144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doubles every ~6 months — and AI reaches everyone.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417320" y="1874520"/>
            <a:ext cx="0" cy="2743200"/>
          </a:xfrm>
          <a:prstGeom prst="line">
            <a:avLst/>
          </a:prstGeom>
          <a:noFill/>
          <a:ln w="381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79576" y="1842516"/>
            <a:ext cx="475488" cy="475488"/>
          </a:xfrm>
          <a:prstGeom prst="ellipse">
            <a:avLst/>
          </a:prstGeom>
          <a:solidFill>
            <a:srgbClr val="3D7DD8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37160" y="185166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874520" y="1746504"/>
            <a:ext cx="67208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Adversarial Networks (GANs)</a:t>
            </a:r>
            <a:endParaRPr lang="en-US" sz="1550" dirty="0"/>
          </a:p>
          <a:p>
            <a:pPr marL="0" indent="0">
              <a:buNone/>
            </a:pPr>
            <a:r>
              <a:rPr lang="en-US" sz="1250" dirty="0">
                <a:solidFill>
                  <a:srgbClr val="2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Ian Goodfellow introduces GANs, in which two neural networks compete — one generating content and one judging it. This architecture becomes the starting point of AI image generation.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1179576" y="2619756"/>
            <a:ext cx="475488" cy="475488"/>
          </a:xfrm>
          <a:prstGeom prst="ellipse">
            <a:avLst/>
          </a:prstGeom>
          <a:solidFill>
            <a:srgbClr val="3D7DD8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37160" y="262890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874520" y="2523744"/>
            <a:ext cx="67208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AlphaGo Defeats Lee Sedol</a:t>
            </a:r>
            <a:endParaRPr lang="en-US" sz="1550" dirty="0"/>
          </a:p>
          <a:p>
            <a:pPr marL="0" indent="0">
              <a:buNone/>
            </a:pPr>
            <a:r>
              <a:rPr lang="en-US" sz="1250" dirty="0">
                <a:solidFill>
                  <a:srgbClr val="2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DeepMind's AlphaGo defeats world Go champion Lee Sedol, a feat once thought decades away. Cloud computing and deep reinforcement learning make the victory possible.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1179576" y="3396996"/>
            <a:ext cx="475488" cy="475488"/>
          </a:xfrm>
          <a:prstGeom prst="ellipse">
            <a:avLst/>
          </a:prstGeom>
          <a:solidFill>
            <a:srgbClr val="3D7DD8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37160" y="340614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874520" y="3300984"/>
            <a:ext cx="67208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Transformer Architecture</a:t>
            </a:r>
            <a:endParaRPr lang="en-US" sz="1550" dirty="0"/>
          </a:p>
          <a:p>
            <a:pPr marL="0" indent="0">
              <a:buNone/>
            </a:pPr>
            <a:r>
              <a:rPr lang="en-US" sz="1250" dirty="0">
                <a:solidFill>
                  <a:srgbClr val="2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Researchers introduce the Transformer, the neural network architecture behind virtually all modern language models, including the GPT series.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1179576" y="4174236"/>
            <a:ext cx="475488" cy="475488"/>
          </a:xfrm>
          <a:prstGeom prst="ellipse">
            <a:avLst/>
          </a:prstGeom>
          <a:solidFill>
            <a:srgbClr val="3D7DD8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37160" y="418338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874520" y="4078224"/>
            <a:ext cx="67208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and the Generative AI Boom</a:t>
            </a:r>
            <a:endParaRPr lang="en-US" sz="1550" dirty="0"/>
          </a:p>
          <a:p>
            <a:pPr marL="0" indent="0">
              <a:buNone/>
            </a:pPr>
            <a:r>
              <a:rPr lang="en-US" sz="1250" dirty="0">
                <a:solidFill>
                  <a:srgbClr val="2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releases ChatGPT, bringing generative AI to the general public. By this point, the computation used to train cutting-edge AI models is doubling roughly every six months — far faster than Moore's Law.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B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3D7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AHEAD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Comes Next: Generative AI Across Industries</a:t>
            </a:r>
            <a:endParaRPr lang="en-US" sz="3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65000"/>
          </a:blip>
          <a:stretch>
            <a:fillRect/>
          </a:stretch>
        </p:blipFill>
        <p:spPr>
          <a:xfrm>
            <a:off x="6903720" y="1828800"/>
            <a:ext cx="1417320" cy="1417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69164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6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is now influencing business, education, healthcare, logistics, customer service, and creative work. The next phase of AI will likely depend on the same pattern seen throughout history: stronger computing power, better data, responsible use, and continued investment.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250" i="1" dirty="0">
                <a:solidFill>
                  <a:srgbClr val="9AA7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Researchers also point to quantum computing as a potential next frontier for the field (Bhat, 2025).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40080" y="3154680"/>
            <a:ext cx="7863840" cy="1417320"/>
          </a:xfrm>
          <a:prstGeom prst="roundRect">
            <a:avLst>
              <a:gd name="adj" fmla="val 6452"/>
            </a:avLst>
          </a:prstGeom>
          <a:solidFill>
            <a:srgbClr val="1E2761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914400" y="3310128"/>
            <a:ext cx="7315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400" dirty="0"/>
          </a:p>
          <a:p>
            <a:pPr marL="0" indent="0">
              <a:buNone/>
            </a:pPr>
            <a:r>
              <a:rPr lang="en-US" sz="1350" dirty="0">
                <a:solidFill>
                  <a:srgbClr val="E6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breakthrough — from Theseus to ChatGPT — arrived only when hardware caught up with theory. The lesson of the AI winters is that ideas alone are not enough; compute, data, and investment must move together.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Bhat, A. K. (2025, March 11). </a:t>
            </a:r>
            <a:r>
              <a:rPr lang="en-US" sz="1000" i="1" dirty="0">
                <a:solidFill>
                  <a:srgbClr val="2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evolution of AI: From foundations to future prospects</a:t>
            </a:r>
            <a:r>
              <a:rPr lang="en-US" sz="1000" dirty="0">
                <a:solidFill>
                  <a:srgbClr val="2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IEEE Computer Society. https://www.computer.org/publications/tech-news/research/evolution-of-ai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12801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Dartmouth College. (n.d.). </a:t>
            </a:r>
            <a:r>
              <a:rPr lang="en-US" sz="1000" i="1" dirty="0">
                <a:solidFill>
                  <a:srgbClr val="2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(AI) coined at Dartmouth</a:t>
            </a:r>
            <a:r>
              <a:rPr lang="en-US" sz="1000" dirty="0">
                <a:solidFill>
                  <a:srgbClr val="2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https://home.dartmouth.edu/about/artificial-intelligence-ai-coined-dartmouth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16459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Goodfellow, I., Pouget-Abadie, J., Mirza, M., Xu, B., Warde-Farley, D., Ozair, S., Courville, A., &amp; Bengio, Y. (2014). Generative adversarial nets. </a:t>
            </a:r>
            <a:r>
              <a:rPr lang="en-US" sz="1000" i="1" dirty="0">
                <a:solidFill>
                  <a:srgbClr val="2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Advances in Neural Information Processing Systems, 27</a:t>
            </a:r>
            <a:r>
              <a:rPr lang="en-US" sz="1000" dirty="0">
                <a:solidFill>
                  <a:srgbClr val="2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2672–2680.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DeepMind. (n.d.). </a:t>
            </a:r>
            <a:r>
              <a:rPr lang="en-US" sz="1000" i="1" dirty="0">
                <a:solidFill>
                  <a:srgbClr val="2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AlphaGo</a:t>
            </a:r>
            <a:r>
              <a:rPr lang="en-US" sz="1000" dirty="0">
                <a:solidFill>
                  <a:srgbClr val="2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https://deepmind.google/research/breakthroughs/alphago/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221284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IBM. (n.d.). </a:t>
            </a:r>
            <a:r>
              <a:rPr lang="en-US" sz="1000" i="1" dirty="0">
                <a:solidFill>
                  <a:srgbClr val="2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Blue</a:t>
            </a:r>
            <a:r>
              <a:rPr lang="en-US" sz="1000" dirty="0">
                <a:solidFill>
                  <a:srgbClr val="2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https://www.ibm.com/history/deep-blue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2414016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Krizhevsky, A., Sutskever, I., &amp; Hinton, G. E. (2012). ImageNet classification with deep convolutional neural networks. </a:t>
            </a:r>
            <a:r>
              <a:rPr lang="en-US" sz="1000" i="1" dirty="0">
                <a:solidFill>
                  <a:srgbClr val="2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Advances in Neural Information Processing Systems, 25</a:t>
            </a:r>
            <a:r>
              <a:rPr lang="en-US" sz="1000" dirty="0">
                <a:solidFill>
                  <a:srgbClr val="2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1097–1105.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2779776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OpenAI. (2022, November 30). </a:t>
            </a:r>
            <a:r>
              <a:rPr lang="en-US" sz="1000" i="1" dirty="0">
                <a:solidFill>
                  <a:srgbClr val="2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 ChatGPT</a:t>
            </a:r>
            <a:r>
              <a:rPr lang="en-US" sz="1000" dirty="0">
                <a:solidFill>
                  <a:srgbClr val="2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https://openai.com/index/chatgpt/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298094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Putchuon – “Put You On.” (2024, May 30). </a:t>
            </a:r>
            <a:r>
              <a:rPr lang="en-US" sz="1000" i="1" dirty="0">
                <a:solidFill>
                  <a:srgbClr val="2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history of artificial intelligence (last 100 years)</a:t>
            </a:r>
            <a:r>
              <a:rPr lang="en-US" sz="1000" dirty="0">
                <a:solidFill>
                  <a:srgbClr val="2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[Video]. YouTube. https://www.youtube.com/watch?v=mSd9nmPM7Vg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334670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Roser, M. (2022, December 6). </a:t>
            </a:r>
            <a:r>
              <a:rPr lang="en-US" sz="1000" i="1" dirty="0">
                <a:solidFill>
                  <a:srgbClr val="2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 history of artificial intelligence: The world has changed fast—what might be next?</a:t>
            </a:r>
            <a:r>
              <a:rPr lang="en-US" sz="1000" dirty="0">
                <a:solidFill>
                  <a:srgbClr val="2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Our World in Data. https://ourworldindata.org/brief-history-of-ai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371246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Turing, A. M. (1950). Computing machinery and intelligence. </a:t>
            </a:r>
            <a:r>
              <a:rPr lang="en-US" sz="1000" i="1" dirty="0">
                <a:solidFill>
                  <a:srgbClr val="2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Mind, 59</a:t>
            </a:r>
            <a:r>
              <a:rPr lang="en-US" sz="1000" dirty="0">
                <a:solidFill>
                  <a:srgbClr val="2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(236), 433–460.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391363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Vaswani, A., Shazeer, N., Parmar, N., Uszkoreit, J., Jones, L., Gomez, A. N., Kaiser, Ł., &amp; Polosukhin, I. (2017). Attention is all you need. </a:t>
            </a:r>
            <a:r>
              <a:rPr lang="en-US" sz="1000" i="1" dirty="0">
                <a:solidFill>
                  <a:srgbClr val="2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Advances in Neural Information Processing Systems, 30</a:t>
            </a:r>
            <a:r>
              <a:rPr lang="en-US" sz="1000" dirty="0">
                <a:solidFill>
                  <a:srgbClr val="2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4370832"/>
            <a:ext cx="8046720" cy="658368"/>
          </a:xfrm>
          <a:prstGeom prst="roundRect">
            <a:avLst>
              <a:gd name="adj" fmla="val 11111"/>
            </a:avLst>
          </a:prstGeom>
          <a:solidFill>
            <a:srgbClr val="F0F5FE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77240" y="4370832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Use Disclosure: </a:t>
            </a:r>
            <a:r>
              <a:rPr lang="en-US" sz="1000" dirty="0"/>
              <a:t>ChatGPT was used as a writing and editing support tool to refine wording and improve clarity. I independently reviewed the sources, selected the milestones, finalized the historical flow, and made the final content and design decisions myself.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1307</Words>
  <Application>Microsoft Office PowerPoint</Application>
  <PresentationFormat>On-screen Show (16:9)</PresentationFormat>
  <Paragraphs>110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Evolution of Artificial Intelligence</dc:title>
  <dc:subject>PptxGenJS Presentation</dc:subject>
  <dc:creator>Yejin</dc:creator>
  <cp:lastModifiedBy>Yejin Nam</cp:lastModifiedBy>
  <cp:revision>5</cp:revision>
  <dcterms:created xsi:type="dcterms:W3CDTF">2026-07-08T23:38:27Z</dcterms:created>
  <dcterms:modified xsi:type="dcterms:W3CDTF">2026-07-09T06:01:57Z</dcterms:modified>
</cp:coreProperties>
</file>